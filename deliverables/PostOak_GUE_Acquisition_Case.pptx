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E5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543E"/>
                </a:solidFill>
                <a:latin typeface="Aptos Display"/>
              </a:rPr>
              <a:t>Why Post Oak Should Acquire GUE Cyber + GUE Insight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Pure acquisition thesis based on product, platform depth, and commercial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3808" y="1554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E543E"/>
                </a:solidFill>
                <a:latin typeface="Aptos"/>
              </a:rPr>
              <a:t>POST OAK - ACQUISITION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E543E"/>
                </a:solidFill>
                <a:latin typeface="Aptos Display"/>
              </a:rPr>
              <a:t>A Buyable Cyber-Compliance Platform with Built-In Growth Levers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02B34"/>
                </a:solidFill>
                <a:latin typeface="Aptos"/>
              </a:rPr>
              <a:t>GUE combines cybersecurity delivery with a subscription software platform that is already operational across analysis, compliance, billing, and enterprise collaboration.</a:t>
            </a:r>
          </a:p>
          <a:p>
            <a:pPr>
              <a:spcBef>
                <a:spcPts val="1400"/>
              </a:spcBef>
            </a:pPr>
            <a:r>
              <a:rPr sz="1250" i="1">
                <a:solidFill>
                  <a:srgbClr val="626C76"/>
                </a:solidFill>
                <a:latin typeface="Aptos"/>
              </a:rPr>
              <a:t>Objective today: acquisition fit, strategic synergies, and value creation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E5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543E"/>
                </a:solidFill>
                <a:latin typeface="Aptos Display"/>
              </a:rPr>
              <a:t>Acquisition Thesis in One Slide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Why this asset is worth buying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3808" y="1554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E543E"/>
                </a:solidFill>
                <a:latin typeface="Aptos"/>
              </a:rPr>
              <a:t>POST OAK - ACQUISITION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24128"/>
            <a:ext cx="3657600" cy="2084831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3364992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1) Productized capability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Operational platform for cyber artifact analysis, threat intelligence outputs, compliance workflows, and regulator-grade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24128"/>
            <a:ext cx="3657600" cy="2084831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133856"/>
            <a:ext cx="3364992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2) Revenue architecture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Tiered subscriptions, paid upgrade paths, Stripe checkout flow, billing transactions, and enterprise team plans already implemented.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24128"/>
            <a:ext cx="3200400" cy="2084831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1133856"/>
            <a:ext cx="2907792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3) Strategic fit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Immediate cross-sell potential into security-conscious SMB and enterprise portfolios.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93008"/>
            <a:ext cx="10972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202B34"/>
                </a:solidFill>
                <a:latin typeface="Aptos"/>
              </a:rPr>
              <a:t>This is not a concept: the app spans 14 backend route domains, 119 API route decorators, and 51 frontend pages.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202B34"/>
                </a:solidFill>
                <a:latin typeface="Aptos"/>
              </a:rPr>
              <a:t>Enterprise capabilities are implemented: sub-users, batch processing, analytics, alerting, and external security-tool integrations.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202B34"/>
                </a:solidFill>
                <a:latin typeface="Aptos"/>
              </a:rPr>
              <a:t>Acquisition provides both software ARR upside and services-informed product moat.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E5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543E"/>
                </a:solidFill>
                <a:latin typeface="Aptos Display"/>
              </a:rPr>
              <a:t>Full App Walkthrough: What Post Oak Would Be Buying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End-to-end platform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3808" y="1554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E543E"/>
                </a:solidFill>
                <a:latin typeface="Aptos"/>
              </a:rPr>
              <a:t>POST OAK - ACQUISITION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87552"/>
            <a:ext cx="3611880" cy="2176272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97280"/>
            <a:ext cx="3319272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User &amp; access layer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Signup/login, privacy/auth flows, profile management, role-aware access, and admin-user separation.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987552"/>
            <a:ext cx="3611880" cy="2176272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097280"/>
            <a:ext cx="3319272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Core analysis layer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Multi-format file ingestion, IoC extraction, threat analysis pipelines, and result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987552"/>
            <a:ext cx="3337560" cy="2176272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097280"/>
            <a:ext cx="3044952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Compliance layer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NIS2 incident workflows, PDF regulator reporting, governance dashboards, and audit-oriented outputs.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3611880" cy="2121408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538728"/>
            <a:ext cx="33192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Commercial layer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Plan matrix, subscription management, paid upgrade checkout, transaction logging, and receipt 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611880" cy="2121408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538728"/>
            <a:ext cx="33192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Enterprise ops layer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Sub-user administration, batch jobs via async processing, timeline analytics, threat metrics, and alert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429000"/>
            <a:ext cx="3337560" cy="2121408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3538728"/>
            <a:ext cx="304495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Integrations layer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Stripe billing and webhooks, Slack/webhook notifications, and external threat data provider connectivity.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E5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543E"/>
                </a:solidFill>
                <a:latin typeface="Aptos Display"/>
              </a:rPr>
              <a:t>Why This Platform Is Defensible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Technical and operating qualities that support acquisition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3808" y="1554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E543E"/>
                </a:solidFill>
                <a:latin typeface="Aptos"/>
              </a:rPr>
              <a:t>POST OAK - ACQUISITION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Modular backend route separation across security, billing, enterprise, analysis, support, and admin operations simplifies post-acquisition scaling.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Frontend depth includes dedicated pages for dashboarding, billing, compliance, support, admin controls, and user lifecycle management.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Asynchronous processing foundations (Celery-based batch execution and scheduled analytics tasks) support higher-volume enterprise usage.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Built-in alerting and incident-report generation increase stickiness in compliance-driven buyer segments.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Services-to-software flywheel: domain expertise from GUE Cyber directly improves product roadmap quality and customer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E5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543E"/>
                </a:solidFill>
                <a:latin typeface="Aptos Display"/>
              </a:rPr>
              <a:t>Commercial Engine: Monetization Is Already Wired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Acquisition upside from recurring revenue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3808" y="1554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E543E"/>
                </a:solidFill>
                <a:latin typeface="Aptos"/>
              </a:rPr>
              <a:t>POST OAK - ACQUISITION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36576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15568"/>
            <a:ext cx="3364992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Tiered plans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Free + paid compliance/enterprise tiers with feature gating, usage boundaries, and clear upgrade pathways.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05840"/>
            <a:ext cx="36576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115568"/>
            <a:ext cx="3364992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Upgrade mechanics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Unified subscription-upgrade endpoint supports free-to-paid and paid-to-paid transitions with checkout orchestration.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05840"/>
            <a:ext cx="32004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1115568"/>
            <a:ext cx="2907792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Payment rail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Stripe checkout + webhook-confirmed activation + billing transactions with payment metadata.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84448"/>
            <a:ext cx="10972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202B34"/>
                </a:solidFill>
                <a:latin typeface="Aptos"/>
              </a:rPr>
              <a:t>Enterprise plans include team-management primitives, improving ACV potential and reducing single-seat revenue dependency.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202B34"/>
                </a:solidFill>
                <a:latin typeface="Aptos"/>
              </a:rPr>
              <a:t>Billing architecture supports expansion plays: upsell, add-on modules, and future multi-method payments.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202B34"/>
                </a:solidFill>
                <a:latin typeface="Aptos"/>
              </a:rPr>
              <a:t>Post-acquisition focus can shift from build-risk to go-to-market acceleration.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E5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543E"/>
                </a:solidFill>
                <a:latin typeface="Aptos Display"/>
              </a:rPr>
              <a:t>Why Post Oak Specifically Is the Right Owner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Clear strategic synergies and execution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3808" y="1554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E543E"/>
                </a:solidFill>
                <a:latin typeface="Aptos"/>
              </a:rPr>
              <a:t>POST OAK - ACQUISITION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42415"/>
            <a:ext cx="5440680" cy="2212848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52143"/>
            <a:ext cx="5148072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Portfolio synergy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Deploy GUE Insight into existing portfolio companies that need cyber/compliance maturity, creating immediate internal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42415"/>
            <a:ext cx="5440680" cy="2212848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152143"/>
            <a:ext cx="5148072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Commercial acceleration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Post Oak operating support can professionalize sales cadence, partnerships, and enterprise procurement 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5440680" cy="201168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630168"/>
            <a:ext cx="5148072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Value-creation levers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Channel partnerships | compliance verticalization | enterprise packaging | recurring revenue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520440"/>
            <a:ext cx="5440680" cy="201168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E5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3630168"/>
            <a:ext cx="5148072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43E"/>
                </a:solidFill>
                <a:latin typeface="Aptos Display"/>
              </a:rPr>
              <a:t>Potential outcome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02B34"/>
                </a:solidFill>
                <a:latin typeface="Aptos"/>
              </a:rPr>
              <a:t>Higher ARR mix, stronger margin profile, broader buyer universe, and clearer strategic exit narrative.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E5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543E"/>
                </a:solidFill>
                <a:latin typeface="Aptos Display"/>
              </a:rPr>
              <a:t>Post-Acquisition 100-Day Value Plan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How ownership can translate quickly into enterprise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3808" y="1554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E543E"/>
                </a:solidFill>
                <a:latin typeface="Aptos"/>
              </a:rPr>
              <a:t>POST OAK - ACQUISITION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Day 1-30: complete technical diligence deep-dive, harden production controls, and lock KPI baseline (ARR, retention, activation, gross margin).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Day 31-60: launch focused GTM pod for enterprise compliance accounts and partner-led pipeline generation.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Day 61-100: release prioritized enterprise feature set (integrations, reporting depth, workflow automation) and implement expansion playbooks.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Governance model: monthly operating review tied to product velocity, conversion funnel health, and unit-economics thresholds.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B34"/>
                </a:solidFill>
                <a:latin typeface="Aptos"/>
              </a:rPr>
              <a:t>Primary objective: prove repeatable ARR growth and strategic optionality within first two quarters.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371600"/>
            <a:ext cx="107899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ptos Display"/>
              </a:rPr>
              <a:t>Recommendation: Acquire</a:t>
            </a:r>
          </a:p>
          <a:p>
            <a:pPr>
              <a:spcBef>
                <a:spcPts val="800"/>
              </a:spcBef>
            </a:pPr>
            <a:r>
              <a:rPr sz="2300">
                <a:solidFill>
                  <a:srgbClr val="FFFFFF"/>
                </a:solidFill>
                <a:latin typeface="Aptos Display"/>
              </a:rPr>
              <a:t>GUE Cyber + GUE Insight is a practical, scalable platform buy with immediate strategic fit and clear value-creation paths under Post Oak ownership.</a:t>
            </a:r>
          </a:p>
          <a:p>
            <a:pPr>
              <a:spcBef>
                <a:spcPts val="1400"/>
              </a:spcBef>
            </a:pPr>
            <a:r>
              <a:rPr sz="1500" i="1">
                <a:solidFill>
                  <a:srgbClr val="FFFFFF"/>
                </a:solidFill>
                <a:latin typeface="Aptos"/>
              </a:rPr>
              <a:t>Next step: proceed to acquisition diligence and transaction-structure discussion.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Confidential | GUE Cyber + GUE Insight |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