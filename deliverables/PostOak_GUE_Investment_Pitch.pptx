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7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5097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563F"/>
                </a:solidFill>
                <a:latin typeface="Aptos Display"/>
              </a:rPr>
              <a:t>GUE Cyber + GUE Insight Investment Opportunity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Discussion with Post Oak Group: acquisition or growth investment fit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554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563F"/>
                </a:solidFill>
                <a:latin typeface="Aptos"/>
              </a:rPr>
              <a:t>POST OAK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9728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800" b="1">
                <a:solidFill>
                  <a:srgbClr val="0F563F"/>
                </a:solidFill>
                <a:latin typeface="Aptos Display"/>
              </a:rPr>
              <a:t>Why GUE Is a Right-Fit Platform Investment</a:t>
            </a:r>
          </a:p>
          <a:p>
            <a:pPr>
              <a:spcBef>
                <a:spcPts val="1200"/>
              </a:spcBef>
            </a:pPr>
            <a:r>
              <a:rPr sz="1900">
                <a:solidFill>
                  <a:srgbClr val="212A34"/>
                </a:solidFill>
                <a:latin typeface="Aptos"/>
              </a:rPr>
              <a:t>Cybersecurity execution + compliance intelligence + subscription software economics.</a:t>
            </a:r>
          </a:p>
          <a:p>
            <a:pPr>
              <a:spcBef>
                <a:spcPts val="1400"/>
              </a:spcBef>
            </a:pPr>
            <a:r>
              <a:rPr sz="1300" i="1">
                <a:solidFill>
                  <a:srgbClr val="626C76"/>
                </a:solidFill>
                <a:latin typeface="Aptos"/>
              </a:rPr>
              <a:t>Purpose: evaluate strategic acquisition or investment partnership with Post Oak.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338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Strictly Private &amp; Confidential  |  GUE Cyber / GUE Insight  |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5097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563F"/>
                </a:solidFill>
                <a:latin typeface="Aptos Display"/>
              </a:rPr>
              <a:t>Investment Thesis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Why this company and why now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554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563F"/>
                </a:solidFill>
                <a:latin typeface="Aptos"/>
              </a:rPr>
              <a:t>POST OAK MEETING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3657600" cy="210312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115568"/>
            <a:ext cx="332841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Category tailwinds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Cyber, risk, and compliance budgets remain resilient as regulatory and threat complexity increases.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05840"/>
            <a:ext cx="3657600" cy="210312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115568"/>
            <a:ext cx="332841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Platform leverage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GUE Insight converts services know-how into recurring software workflows and scalable data products.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05840"/>
            <a:ext cx="3200400" cy="210312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115568"/>
            <a:ext cx="2871216" cy="1883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Clear monetization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Tiered subscriptions, expansion paths, and enterprise upsell support compounding revenue.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474720"/>
            <a:ext cx="109728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Acquirer angle: bolt-on platform with cross-sell potential into existing portfolio companies and customer channels.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Investor angle: growth-capital can accelerate go-to-market, enterprise integrations, and product depth.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Timing angle: market is rewarding credible AI-enabled compliance and cyber automation platforms.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11338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Strictly Private &amp; Confidential  |  GUE Cyber / GUE Insight  | 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5097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563F"/>
                </a:solidFill>
                <a:latin typeface="Aptos Display"/>
              </a:rPr>
              <a:t>Company Overview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GUE Cyber + GUE Insight in one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554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563F"/>
                </a:solidFill>
                <a:latin typeface="Aptos"/>
              </a:rPr>
              <a:t>POST OAK MEETING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486400" cy="228600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161288"/>
            <a:ext cx="5157216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GUE Cyber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Execution engine delivering cyber advisory, implementation, and managed outcomes for clients with real compliance pressure.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051560"/>
            <a:ext cx="5212080" cy="228600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19672" y="1161288"/>
            <a:ext cx="4882896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GUE Insight Platform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Workflow platform for governance, risk, controls, reporting, and evidence management across subscription tiers.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657600"/>
            <a:ext cx="10972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Services-to-software flywheel: implementation informs product roadmap; product improves delivery margins and retention.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Integrated value proposition: advisory credibility plus software stickiness can reduce churn risk.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Potential exit narrative: scalable compliance operating system with defensible domain expertise.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480" y="6400800"/>
            <a:ext cx="11338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Strictly Private &amp; Confidential  |  GUE Cyber / GUE Insight  | 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5097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563F"/>
                </a:solidFill>
                <a:latin typeface="Aptos Display"/>
              </a:rPr>
              <a:t>Product-Market Fit Signals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What makes the platform commercially investable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554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563F"/>
                </a:solidFill>
                <a:latin typeface="Aptos"/>
              </a:rPr>
              <a:t>POST OAK MEETING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3657600" cy="21488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115568"/>
            <a:ext cx="332841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Pain point intensity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Customers face high-cost manual processes for compliance readiness, security posture tracking, and audit evidence.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05840"/>
            <a:ext cx="3657600" cy="21488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115568"/>
            <a:ext cx="332841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Differentiated delivery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GUE pairs platform features with implementation support, improving activation and time-to-value.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05840"/>
            <a:ext cx="3200400" cy="21488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115568"/>
            <a:ext cx="287121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Revenue quality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Subscription-led model supports recurring revenue visibility and expansion by plan tier.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Practical fit for regulated and growth-stage organizations that need both software and expert enablement.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Enterprise readiness can be strengthened with dedicated product, security, and channel investment.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Platform roadmap aligns with buyer demand for automation, reporting fidelity, and governance traceability.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11338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Strictly Private &amp; Confidential  |  GUE Cyber / GUE Insight  |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5097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563F"/>
                </a:solidFill>
                <a:latin typeface="Aptos Display"/>
              </a:rPr>
              <a:t>Why Post Oak Is a Strong Fit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Strategic and financial rationale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554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563F"/>
                </a:solidFill>
                <a:latin typeface="Aptos"/>
              </a:rPr>
              <a:t>POST OAK MEETING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51560"/>
            <a:ext cx="5440680" cy="228600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161288"/>
            <a:ext cx="5111496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Acquisition case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Capture full upside from platform scaling, attach services cash flows, and integrate with broader software investment strategy.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051560"/>
            <a:ext cx="5440680" cy="228600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161288"/>
            <a:ext cx="5111496" cy="2066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Investment case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Minority or structured growth investment to accelerate ARR growth before a larger strategic transaction.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611880"/>
            <a:ext cx="5440680" cy="19202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3721608"/>
            <a:ext cx="51114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Value-creation levers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Go-to-market expansion | Channel partnerships | Productized enterprise modules | Operational KPI rigor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611880"/>
            <a:ext cx="5440680" cy="19202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36792" y="3721608"/>
            <a:ext cx="5111496" cy="17007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Potential outcomes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Higher recurring mix | Improved margin profile | Broader buyer universe | Multiple expansion at exit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400800"/>
            <a:ext cx="11338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Strictly Private &amp; Confidential  |  GUE Cyber / GUE Insight  | 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5097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563F"/>
                </a:solidFill>
                <a:latin typeface="Aptos Display"/>
              </a:rPr>
              <a:t>Growth Plan and Capital Deployment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How additional capital translates to enterprise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554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563F"/>
                </a:solidFill>
                <a:latin typeface="Aptos"/>
              </a:rPr>
              <a:t>POST OAK MEETING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005840"/>
            <a:ext cx="3657600" cy="21488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115568"/>
            <a:ext cx="332841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Product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Expand automation modules, integrations, role-based analytics, and AI-assisted compliance workflows.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005840"/>
            <a:ext cx="3657600" cy="21488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115568"/>
            <a:ext cx="332841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Go-to-market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Scale direct sales motion, strengthen partner channels, and formalize customer success expansion playbooks.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321040" y="1005840"/>
            <a:ext cx="3200400" cy="2148840"/>
          </a:xfrm>
          <a:prstGeom prst="roundRect">
            <a:avLst/>
          </a:prstGeom>
          <a:solidFill>
            <a:srgbClr val="F5F7F8"/>
          </a:solidFill>
          <a:ln w="15240">
            <a:solidFill>
              <a:srgbClr val="0F56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85632" y="1115568"/>
            <a:ext cx="2871216" cy="1929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50" b="1">
                <a:solidFill>
                  <a:srgbClr val="0F563F"/>
                </a:solidFill>
                <a:latin typeface="Aptos Display"/>
              </a:rPr>
              <a:t>Operations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212A34"/>
                </a:solidFill>
                <a:latin typeface="Aptos"/>
              </a:rPr>
              <a:t>Invest in security posture, data governance, and enterprise implementation tooling.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56616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Target profile: faster ARR growth with disciplined CAC, improved retention, and stronger expansion revenue.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Execution focus: measurable quarterly milestones tied to product launches, pipeline quality, and customer outcomes.</a:t>
            </a:r>
          </a:p>
          <a:p>
            <a:pPr>
              <a:spcAft>
                <a:spcPts val="800"/>
              </a:spcAft>
            </a:pPr>
            <a:r>
              <a:rPr sz="1550">
                <a:solidFill>
                  <a:srgbClr val="212A34"/>
                </a:solidFill>
                <a:latin typeface="Aptos"/>
              </a:rPr>
              <a:t>Partnership value: Post Oak strategic support can materially compress time-to-scale.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6400800"/>
            <a:ext cx="11338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Strictly Private &amp; Confidential  |  GUE Cyber / GUE Insight  | 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863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13232"/>
            <a:ext cx="12191695" cy="73152"/>
          </a:xfrm>
          <a:prstGeom prst="rect">
            <a:avLst/>
          </a:prstGeom>
          <a:solidFill>
            <a:srgbClr val="0F56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"/>
            <a:ext cx="950976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0F563F"/>
                </a:solidFill>
                <a:latin typeface="Aptos Display"/>
              </a:rPr>
              <a:t>Proposed Diligence Focus</a:t>
            </a:r>
          </a:p>
          <a:p>
            <a:pPr>
              <a:spcBef>
                <a:spcPts val="0"/>
              </a:spcBef>
            </a:pPr>
            <a:r>
              <a:rPr sz="1150" i="1">
                <a:solidFill>
                  <a:srgbClr val="626C76"/>
                </a:solidFill>
                <a:latin typeface="Aptos"/>
              </a:rPr>
              <a:t>Decision framework for buy vs invest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921240" y="155448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0F563F"/>
                </a:solidFill>
                <a:latin typeface="Aptos"/>
              </a:rPr>
              <a:t>POST OAK MEETING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50">
                <a:solidFill>
                  <a:srgbClr val="212A34"/>
                </a:solidFill>
                <a:latin typeface="Aptos"/>
              </a:rPr>
              <a:t>Commercial: ICP definition, pipeline conversion, expansion dynamics, and channel opportunities.</a:t>
            </a:r>
          </a:p>
          <a:p>
            <a:pPr>
              <a:spcAft>
                <a:spcPts val="800"/>
              </a:spcAft>
            </a:pPr>
            <a:r>
              <a:rPr sz="1650">
                <a:solidFill>
                  <a:srgbClr val="212A34"/>
                </a:solidFill>
                <a:latin typeface="Aptos"/>
              </a:rPr>
              <a:t>Product: roadmap credibility, platform architecture, integration depth, and security/compliance controls.</a:t>
            </a:r>
          </a:p>
          <a:p>
            <a:pPr>
              <a:spcAft>
                <a:spcPts val="800"/>
              </a:spcAft>
            </a:pPr>
            <a:r>
              <a:rPr sz="1650">
                <a:solidFill>
                  <a:srgbClr val="212A34"/>
                </a:solidFill>
                <a:latin typeface="Aptos"/>
              </a:rPr>
              <a:t>Financial: recurring vs non-recurring mix, cohort behavior, gross margin profile, and operating leverage.</a:t>
            </a:r>
          </a:p>
          <a:p>
            <a:pPr>
              <a:spcAft>
                <a:spcPts val="800"/>
              </a:spcAft>
            </a:pPr>
            <a:r>
              <a:rPr sz="1650">
                <a:solidFill>
                  <a:srgbClr val="212A34"/>
                </a:solidFill>
                <a:latin typeface="Aptos"/>
              </a:rPr>
              <a:t>Management: leadership depth, execution cadence, and hiring priorities for next stage growth.</a:t>
            </a:r>
          </a:p>
          <a:p>
            <a:pPr>
              <a:spcAft>
                <a:spcPts val="800"/>
              </a:spcAft>
            </a:pPr>
            <a:r>
              <a:rPr sz="1650">
                <a:solidFill>
                  <a:srgbClr val="212A34"/>
                </a:solidFill>
                <a:latin typeface="Aptos"/>
              </a:rPr>
              <a:t>Transaction structure: full acquisition, minority growth investment, or staged option-based path.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6400800"/>
            <a:ext cx="11338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Strictly Private &amp; Confidential  |  GUE Cyber / GUE Insight  | 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56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1078992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5200" b="1">
                <a:solidFill>
                  <a:srgbClr val="FFFFFF"/>
                </a:solidFill>
                <a:latin typeface="Aptos Display"/>
              </a:rPr>
              <a:t>Recommendation</a:t>
            </a:r>
          </a:p>
          <a:p>
            <a:pPr>
              <a:spcBef>
                <a:spcPts val="800"/>
              </a:spcBef>
            </a:pPr>
            <a:r>
              <a:rPr sz="2400">
                <a:solidFill>
                  <a:srgbClr val="FFFFFF"/>
                </a:solidFill>
                <a:latin typeface="Aptos Display"/>
              </a:rPr>
              <a:t>Advance to structured diligence on GUE Cyber + GUE Insight as a right-fit platform opportunity.</a:t>
            </a:r>
          </a:p>
          <a:p>
            <a:pPr>
              <a:spcBef>
                <a:spcPts val="1400"/>
              </a:spcBef>
            </a:pPr>
            <a:r>
              <a:rPr sz="1500" i="1">
                <a:solidFill>
                  <a:srgbClr val="FFFFFF"/>
                </a:solidFill>
                <a:latin typeface="Aptos"/>
              </a:rPr>
              <a:t>Decision paths: acquisition, growth investment, or phased strategic partnership.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400800"/>
            <a:ext cx="11338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>
                <a:solidFill>
                  <a:srgbClr val="626C76"/>
                </a:solidFill>
                <a:latin typeface="Aptos"/>
              </a:rPr>
              <a:t>Strictly Private &amp; Confidential  |  GUE Cyber / GUE Insight  | 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